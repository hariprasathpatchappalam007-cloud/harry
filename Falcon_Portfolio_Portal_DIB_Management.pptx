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D06626-7338-4442-981D-A8AF590AB11D}" type="datetimeFigureOut">
              <a:rPr lang="en-AE" smtClean="0"/>
              <a:t>22/10/2026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612B93-EAEC-48BE-AC28-1DC89A96A1C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91201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612B93-EAEC-48BE-AC28-1DC89A96A1C1}" type="slidenum">
              <a:rPr lang="en-AE" smtClean="0"/>
              <a:t>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4192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612B93-EAEC-48BE-AC28-1DC89A96A1C1}" type="slidenum">
              <a:rPr lang="en-AE" smtClean="0"/>
              <a:t>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03113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31512-AC75-513B-D1F2-531BF88E0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6D71F-618F-F5C3-06FE-2A69D1CFB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EF378-1436-8EC4-82FD-C95E6566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F10E-39CD-45D2-80FB-C57B7206E29F}" type="datetimeFigureOut">
              <a:rPr lang="en-AE" smtClean="0"/>
              <a:t>22/10/2026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8E738-DAA2-331F-26FA-020E4D4B9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7A581-D05B-B5D9-89E6-3CA34314A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769E-D5E9-48C1-87BF-DB9F7917758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43790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06C9-78CA-E4F3-2FB2-FB6B7576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62A61-1972-E9ED-6AF9-89A495270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5C9A0-4779-3193-72A6-0B1643F5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F10E-39CD-45D2-80FB-C57B7206E29F}" type="datetimeFigureOut">
              <a:rPr lang="en-AE" smtClean="0"/>
              <a:t>22/10/2026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92807-5172-1B8B-49FF-1BCE93F89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6F350-BDD3-F417-29FA-C930C2A3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769E-D5E9-48C1-87BF-DB9F7917758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50155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12ED5-F98E-2486-2231-AF2E4B45C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DB5C9-477D-4353-C96A-CE78830B9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880DE-1572-3C0A-07CF-9C4BB0F4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F10E-39CD-45D2-80FB-C57B7206E29F}" type="datetimeFigureOut">
              <a:rPr lang="en-AE" smtClean="0"/>
              <a:t>22/10/2026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1B340-6A39-4C02-CA72-103AE2838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58251-ABE2-71E1-21A1-3E1E1256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769E-D5E9-48C1-87BF-DB9F7917758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6819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674C-897C-643F-36FB-EE5252FD1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4EA38-F921-FD02-5BB0-E3AAAA70B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E96F0-2E3C-49A1-9B1A-3BE2E1DC1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523A0-FAC0-F61C-7357-0CAC12336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F10E-39CD-45D2-80FB-C57B7206E29F}" type="datetimeFigureOut">
              <a:rPr lang="en-AE" smtClean="0"/>
              <a:t>22/10/2026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D2A8A-63FF-C045-8124-0EDC00594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E1204-9722-A975-8D28-64145BD6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769E-D5E9-48C1-87BF-DB9F7917758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088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9AD18-4AC8-E6AD-B53A-65BB2A084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E9371-C348-6A23-1BF3-007F9D026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6E351-9EF3-1C56-9EC4-A4E16D20F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5C2D8-CD72-7319-83D8-7E82AE294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2A478A-7D8A-4461-A6A8-3C25E1300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2709CB-4641-3333-5F93-A3248F0D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F10E-39CD-45D2-80FB-C57B7206E29F}" type="datetimeFigureOut">
              <a:rPr lang="en-AE" smtClean="0"/>
              <a:t>22/10/2026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1DC3C3-B320-EBDA-629F-FA80E18B8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24455B-5EAE-8598-AE13-F0A6A754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769E-D5E9-48C1-87BF-DB9F7917758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7583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989D-1D5B-5B36-7516-DC75D34F6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00A877-A738-D7F4-CF0F-F789DFF1A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F10E-39CD-45D2-80FB-C57B7206E29F}" type="datetimeFigureOut">
              <a:rPr lang="en-AE" smtClean="0"/>
              <a:t>22/10/2026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B347CA-0AE9-0386-960E-BA7F25B56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BB04F-9863-86C1-C56D-FFF48C685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769E-D5E9-48C1-87BF-DB9F7917758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44496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EC45B-4837-FEA0-EEE8-EABC85660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F10E-39CD-45D2-80FB-C57B7206E29F}" type="datetimeFigureOut">
              <a:rPr lang="en-AE" smtClean="0"/>
              <a:t>22/10/2026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EA169D-119E-AB5B-6409-4093783B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A81B4-FFC0-8015-9EAE-FE59A1E45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769E-D5E9-48C1-87BF-DB9F7917758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64074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211BE-C3F6-C8E1-9C41-DC5161A01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C6994-4C03-0C7C-916F-575735BE4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7CE02-29C2-A9BD-DF54-EA0FBE18D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FCB3F-D0F1-D760-D0D5-256376C8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F10E-39CD-45D2-80FB-C57B7206E29F}" type="datetimeFigureOut">
              <a:rPr lang="en-AE" smtClean="0"/>
              <a:t>22/10/2026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5BB3E-E109-A001-F10E-F3086E9E3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DDDE5-2DB2-11F1-1A3A-A8BA5FA9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769E-D5E9-48C1-87BF-DB9F7917758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33775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8AE5-CAE4-7670-2DC5-BB503C822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AD6B1F-1AC2-99A8-4B47-681AC330849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20161-CC83-AE59-F8FC-3C32FBE24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612A7-6016-3F54-4C2C-B9F808519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F10E-39CD-45D2-80FB-C57B7206E29F}" type="datetimeFigureOut">
              <a:rPr lang="en-AE" smtClean="0"/>
              <a:t>22/10/2026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B51A0-C579-3DE7-7A88-71F0C3DA4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985B6-2A9F-1F2F-D319-F86BCB6E3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769E-D5E9-48C1-87BF-DB9F7917758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0048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B072-B3AE-0C04-AA0D-1165B7C1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EDE08-39B4-B6EE-FF77-898D84E9D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DF946-DCBF-0BAC-8D19-358247752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F10E-39CD-45D2-80FB-C57B7206E29F}" type="datetimeFigureOut">
              <a:rPr lang="en-AE" smtClean="0"/>
              <a:t>22/10/2026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05B8E-5DA3-CEC3-6A96-E9661BBE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8760B-A126-E44B-0A03-E9486548D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769E-D5E9-48C1-87BF-DB9F7917758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7021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22C83F-4AFD-32F2-FDC7-6918B41381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456D0-ADA8-327E-4D73-62E6DAA00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AB333-3A1D-10C9-3610-C0158528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F10E-39CD-45D2-80FB-C57B7206E29F}" type="datetimeFigureOut">
              <a:rPr lang="en-AE" smtClean="0"/>
              <a:t>22/10/2026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361A-3F4F-542D-4721-D880410E8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F10D8-4789-1000-1EA6-C80FF6CAE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769E-D5E9-48C1-87BF-DB9F7917758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28424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21B2C8-274C-1D19-A8E2-E50A1DF8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BF298-1A0B-64B4-3F2A-56CB26C86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43BF3-BF6A-7F6F-BAAD-24634D4948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FF10E-39CD-45D2-80FB-C57B7206E29F}" type="datetimeFigureOut">
              <a:rPr lang="en-AE" smtClean="0"/>
              <a:t>22/10/2026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9D4D7-3D20-67C8-B748-C759CB4A52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41739-4192-41F7-47B7-64CA3061C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88769E-D5E9-48C1-87BF-DB9F7917758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5665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roducing Falc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een introduction panel">
            <a:extLst>
              <a:ext uri="{FF2B5EF4-FFF2-40B4-BE49-F238E27FC236}">
                <a16:creationId xmlns:a16="http://schemas.microsoft.com/office/drawing/2014/main" id="{F587021C-7D1F-CE10-9F00-3090F008946D}"/>
              </a:ext>
            </a:extLst>
          </p:cNvPr>
          <p:cNvSpPr/>
          <p:nvPr/>
        </p:nvSpPr>
        <p:spPr>
          <a:xfrm>
            <a:off x="0" y="0"/>
            <a:ext cx="5384800" cy="6858000"/>
          </a:xfrm>
          <a:prstGeom prst="rect">
            <a:avLst/>
          </a:prstGeom>
          <a:solidFill>
            <a:srgbClr val="0B4A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Gold brand accent">
            <a:extLst>
              <a:ext uri="{FF2B5EF4-FFF2-40B4-BE49-F238E27FC236}">
                <a16:creationId xmlns:a16="http://schemas.microsoft.com/office/drawing/2014/main" id="{2C6DD697-AC11-5CB2-EFF0-56C3C46E6D98}"/>
              </a:ext>
            </a:extLst>
          </p:cNvPr>
          <p:cNvSpPr/>
          <p:nvPr/>
        </p:nvSpPr>
        <p:spPr>
          <a:xfrm>
            <a:off x="457200" y="482600"/>
            <a:ext cx="508000" cy="50800"/>
          </a:xfrm>
          <a:prstGeom prst="rect">
            <a:avLst/>
          </a:prstGeom>
          <a:solidFill>
            <a:srgbClr val="BD8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" name="Audience">
            <a:extLst>
              <a:ext uri="{FF2B5EF4-FFF2-40B4-BE49-F238E27FC236}">
                <a16:creationId xmlns:a16="http://schemas.microsoft.com/office/drawing/2014/main" id="{517A65D7-4598-1259-3BA7-2D941496937D}"/>
              </a:ext>
            </a:extLst>
          </p:cNvPr>
          <p:cNvSpPr txBox="1"/>
          <p:nvPr/>
        </p:nvSpPr>
        <p:spPr>
          <a:xfrm>
            <a:off x="457200" y="736600"/>
            <a:ext cx="4470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100" b="1">
                <a:solidFill>
                  <a:srgbClr val="D8E8DF"/>
                </a:solidFill>
                <a:latin typeface="Aptos" panose="020B0004020202020204" pitchFamily="34" charset="0"/>
              </a:rPr>
              <a:t>DIB MANAGEMENT  /  INTRODUCTION</a:t>
            </a:r>
            <a:endParaRPr lang="en-AE" sz="1100" b="1">
              <a:solidFill>
                <a:srgbClr val="D8E8DF"/>
              </a:solidFill>
              <a:latin typeface="Aptos" panose="020B0004020202020204" pitchFamily="34" charset="0"/>
            </a:endParaRPr>
          </a:p>
        </p:txBody>
      </p:sp>
      <p:sp>
        <p:nvSpPr>
          <p:cNvPr id="5" name="Presentation title">
            <a:extLst>
              <a:ext uri="{FF2B5EF4-FFF2-40B4-BE49-F238E27FC236}">
                <a16:creationId xmlns:a16="http://schemas.microsoft.com/office/drawing/2014/main" id="{CA5EFDA7-7277-7CB1-454F-CBC982EEA007}"/>
              </a:ext>
            </a:extLst>
          </p:cNvPr>
          <p:cNvSpPr txBox="1"/>
          <p:nvPr/>
        </p:nvSpPr>
        <p:spPr>
          <a:xfrm>
            <a:off x="457200" y="1498600"/>
            <a:ext cx="44704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600" b="1">
                <a:solidFill>
                  <a:srgbClr val="FFFFFF"/>
                </a:solidFill>
                <a:latin typeface="Aptos" panose="020B0004020202020204" pitchFamily="34" charset="0"/>
              </a:rPr>
              <a:t>Falcon</a:t>
            </a:r>
          </a:p>
          <a:p>
            <a:r>
              <a:rPr lang="en-IN" sz="3600" b="1">
                <a:solidFill>
                  <a:srgbClr val="FFFFFF"/>
                </a:solidFill>
                <a:latin typeface="Aptos" panose="020B0004020202020204" pitchFamily="34" charset="0"/>
              </a:rPr>
              <a:t>Portfolio Portal</a:t>
            </a:r>
            <a:endParaRPr lang="en-AE" sz="3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Executive proposition">
            <a:extLst>
              <a:ext uri="{FF2B5EF4-FFF2-40B4-BE49-F238E27FC236}">
                <a16:creationId xmlns:a16="http://schemas.microsoft.com/office/drawing/2014/main" id="{0F49E101-2A9A-1345-D1F1-C82B9ACB7616}"/>
              </a:ext>
            </a:extLst>
          </p:cNvPr>
          <p:cNvSpPr txBox="1"/>
          <p:nvPr/>
        </p:nvSpPr>
        <p:spPr>
          <a:xfrm>
            <a:off x="457200" y="3175000"/>
            <a:ext cx="44704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>
                <a:solidFill>
                  <a:srgbClr val="FFFFFF"/>
                </a:solidFill>
                <a:latin typeface="Aptos" panose="020B0004020202020204" pitchFamily="34" charset="0"/>
              </a:rPr>
              <a:t>Connected oversight from demand to invoice.</a:t>
            </a:r>
            <a:endParaRPr lang="en-AE" sz="2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" name="Portal introduction">
            <a:extLst>
              <a:ext uri="{FF2B5EF4-FFF2-40B4-BE49-F238E27FC236}">
                <a16:creationId xmlns:a16="http://schemas.microsoft.com/office/drawing/2014/main" id="{7984AA7B-FBDB-3857-BC29-CA90D13BC48E}"/>
              </a:ext>
            </a:extLst>
          </p:cNvPr>
          <p:cNvSpPr txBox="1"/>
          <p:nvPr/>
        </p:nvSpPr>
        <p:spPr>
          <a:xfrm>
            <a:off x="457200" y="4381500"/>
            <a:ext cx="44196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D8E8DF"/>
                </a:solidFill>
                <a:latin typeface="Aptos" panose="020B0004020202020204" pitchFamily="34" charset="0"/>
              </a:rPr>
              <a:t>Projects, PET approvals, budgets and spend in one governed workspace.</a:t>
            </a:r>
            <a:endParaRPr lang="en-AE">
              <a:solidFill>
                <a:srgbClr val="D8E8DF"/>
              </a:solidFill>
              <a:latin typeface="Aptos" panose="020B0004020202020204" pitchFamily="34" charset="0"/>
            </a:endParaRPr>
          </a:p>
        </p:txBody>
      </p:sp>
      <p:sp>
        <p:nvSpPr>
          <p:cNvPr id="8" name="Panel divider">
            <a:extLst>
              <a:ext uri="{FF2B5EF4-FFF2-40B4-BE49-F238E27FC236}">
                <a16:creationId xmlns:a16="http://schemas.microsoft.com/office/drawing/2014/main" id="{4CE292B7-3C76-0B78-A3B8-735455C6A8ED}"/>
              </a:ext>
            </a:extLst>
          </p:cNvPr>
          <p:cNvSpPr/>
          <p:nvPr/>
        </p:nvSpPr>
        <p:spPr>
          <a:xfrm>
            <a:off x="457200" y="5715000"/>
            <a:ext cx="4470400" cy="12700"/>
          </a:xfrm>
          <a:prstGeom prst="rect">
            <a:avLst/>
          </a:prstGeom>
          <a:solidFill>
            <a:srgbClr val="4270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Value statement">
            <a:extLst>
              <a:ext uri="{FF2B5EF4-FFF2-40B4-BE49-F238E27FC236}">
                <a16:creationId xmlns:a16="http://schemas.microsoft.com/office/drawing/2014/main" id="{5BDBBF2A-75CD-E9B9-9305-59DA2D7063B7}"/>
              </a:ext>
            </a:extLst>
          </p:cNvPr>
          <p:cNvSpPr txBox="1"/>
          <p:nvPr/>
        </p:nvSpPr>
        <p:spPr>
          <a:xfrm>
            <a:off x="457200" y="5930900"/>
            <a:ext cx="44704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FFFFFF"/>
                </a:solidFill>
                <a:latin typeface="Aptos" panose="020B0004020202020204" pitchFamily="34" charset="0"/>
              </a:rPr>
              <a:t>VISIBILITY.  ACCOUNTABILITY.  CONTROL.</a:t>
            </a:r>
            <a:endParaRPr lang="en-AE" sz="105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1" name="Slide one footer">
            <a:extLst>
              <a:ext uri="{FF2B5EF4-FFF2-40B4-BE49-F238E27FC236}">
                <a16:creationId xmlns:a16="http://schemas.microsoft.com/office/drawing/2014/main" id="{C1820021-AA78-0120-47D2-153F4CB8AC04}"/>
              </a:ext>
            </a:extLst>
          </p:cNvPr>
          <p:cNvSpPr txBox="1"/>
          <p:nvPr/>
        </p:nvSpPr>
        <p:spPr>
          <a:xfrm>
            <a:off x="5867400" y="6553200"/>
            <a:ext cx="5207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596B63"/>
                </a:solidFill>
                <a:latin typeface="Aptos" panose="020B0004020202020204" pitchFamily="34" charset="0"/>
              </a:rPr>
              <a:t>FALCON PORTFOLIO PORTAL  |  DIB</a:t>
            </a:r>
            <a:endParaRPr lang="en-AE" sz="900">
              <a:solidFill>
                <a:srgbClr val="596B63"/>
              </a:solidFill>
              <a:latin typeface="Aptos" panose="020B0004020202020204" pitchFamily="34" charset="0"/>
            </a:endParaRPr>
          </a:p>
        </p:txBody>
      </p:sp>
      <p:sp>
        <p:nvSpPr>
          <p:cNvPr id="32" name="Slide number">
            <a:extLst>
              <a:ext uri="{FF2B5EF4-FFF2-40B4-BE49-F238E27FC236}">
                <a16:creationId xmlns:a16="http://schemas.microsoft.com/office/drawing/2014/main" id="{825080F0-97BC-965F-4CA9-94EDECFA3D45}"/>
              </a:ext>
            </a:extLst>
          </p:cNvPr>
          <p:cNvSpPr txBox="1"/>
          <p:nvPr/>
        </p:nvSpPr>
        <p:spPr>
          <a:xfrm>
            <a:off x="11226800" y="6540500"/>
            <a:ext cx="508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AE" sz="1000" b="1">
                <a:solidFill>
                  <a:srgbClr val="0B4A36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33" name="Screenshot eyebrow">
            <a:extLst>
              <a:ext uri="{FF2B5EF4-FFF2-40B4-BE49-F238E27FC236}">
                <a16:creationId xmlns:a16="http://schemas.microsoft.com/office/drawing/2014/main" id="{ACCAAB8E-0196-6EE1-A496-587E4BB56258}"/>
              </a:ext>
            </a:extLst>
          </p:cNvPr>
          <p:cNvSpPr txBox="1"/>
          <p:nvPr/>
        </p:nvSpPr>
        <p:spPr>
          <a:xfrm>
            <a:off x="5867400" y="495300"/>
            <a:ext cx="5588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100" b="1">
                <a:solidFill>
                  <a:srgbClr val="BD8B22"/>
                </a:solidFill>
                <a:latin typeface="Aptos" panose="020B0004020202020204" pitchFamily="34" charset="0"/>
              </a:rPr>
              <a:t>PORTAL INTERFACE</a:t>
            </a:r>
            <a:endParaRPr lang="en-AE" sz="1100" b="1">
              <a:solidFill>
                <a:srgbClr val="BD8B22"/>
              </a:solidFill>
              <a:latin typeface="Aptos" panose="020B0004020202020204" pitchFamily="34" charset="0"/>
            </a:endParaRPr>
          </a:p>
        </p:txBody>
      </p:sp>
      <p:sp>
        <p:nvSpPr>
          <p:cNvPr id="34" name="Screenshot frame">
            <a:extLst>
              <a:ext uri="{FF2B5EF4-FFF2-40B4-BE49-F238E27FC236}">
                <a16:creationId xmlns:a16="http://schemas.microsoft.com/office/drawing/2014/main" id="{E12F8295-C113-1275-5E5F-F6A5F781AE8B}"/>
              </a:ext>
            </a:extLst>
          </p:cNvPr>
          <p:cNvSpPr/>
          <p:nvPr/>
        </p:nvSpPr>
        <p:spPr>
          <a:xfrm>
            <a:off x="5829300" y="914400"/>
            <a:ext cx="5943600" cy="3352800"/>
          </a:xfrm>
          <a:prstGeom prst="rect">
            <a:avLst/>
          </a:prstGeom>
          <a:solidFill>
            <a:srgbClr val="F2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36" name="Falcon portal project register screenshot">
            <a:extLst>
              <a:ext uri="{FF2B5EF4-FFF2-40B4-BE49-F238E27FC236}">
                <a16:creationId xmlns:a16="http://schemas.microsoft.com/office/drawing/2014/main" id="{C0BD9F5D-15DB-DA8A-12E8-0D1B18D0BCA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800" y="977900"/>
            <a:ext cx="5816600" cy="3289300"/>
          </a:xfrm>
          <a:prstGeom prst="rect">
            <a:avLst/>
          </a:prstGeom>
        </p:spPr>
      </p:pic>
      <p:sp>
        <p:nvSpPr>
          <p:cNvPr id="37" name="Screenshot caption">
            <a:extLst>
              <a:ext uri="{FF2B5EF4-FFF2-40B4-BE49-F238E27FC236}">
                <a16:creationId xmlns:a16="http://schemas.microsoft.com/office/drawing/2014/main" id="{311F71A9-0B00-44A9-F863-72E471504620}"/>
              </a:ext>
            </a:extLst>
          </p:cNvPr>
          <p:cNvSpPr txBox="1"/>
          <p:nvPr/>
        </p:nvSpPr>
        <p:spPr>
          <a:xfrm>
            <a:off x="5867400" y="4445000"/>
            <a:ext cx="571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200" b="1">
                <a:solidFill>
                  <a:srgbClr val="0B4A36"/>
                </a:solidFill>
                <a:latin typeface="Aptos" panose="020B0004020202020204" pitchFamily="34" charset="0"/>
              </a:rPr>
              <a:t>PROJECT REGISTER  |  PREVIEW DATA</a:t>
            </a:r>
            <a:endParaRPr lang="en-AE" sz="1200" b="1">
              <a:solidFill>
                <a:srgbClr val="0B4A36"/>
              </a:solidFill>
              <a:latin typeface="Aptos" panose="020B0004020202020204" pitchFamily="34" charset="0"/>
            </a:endParaRPr>
          </a:p>
        </p:txBody>
      </p:sp>
      <p:sp>
        <p:nvSpPr>
          <p:cNvPr id="38" name="Preview data disclaimer">
            <a:extLst>
              <a:ext uri="{FF2B5EF4-FFF2-40B4-BE49-F238E27FC236}">
                <a16:creationId xmlns:a16="http://schemas.microsoft.com/office/drawing/2014/main" id="{7FDBD8C0-2468-9F55-0912-5E8E45C47A1F}"/>
              </a:ext>
            </a:extLst>
          </p:cNvPr>
          <p:cNvSpPr txBox="1"/>
          <p:nvPr/>
        </p:nvSpPr>
        <p:spPr>
          <a:xfrm>
            <a:off x="5867400" y="4762500"/>
            <a:ext cx="571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596B63"/>
                </a:solidFill>
                <a:latin typeface="Aptos" panose="020B0004020202020204" pitchFamily="34" charset="0"/>
              </a:rPr>
              <a:t>Illustrative portal screen; no live portfolio data is shown.</a:t>
            </a:r>
            <a:endParaRPr lang="en-AE" sz="1100">
              <a:solidFill>
                <a:srgbClr val="596B63"/>
              </a:solidFill>
              <a:latin typeface="Aptos" panose="020B0004020202020204" pitchFamily="34" charset="0"/>
            </a:endParaRPr>
          </a:p>
        </p:txBody>
      </p:sp>
      <p:sp>
        <p:nvSpPr>
          <p:cNvPr id="39" name="Workflow summary">
            <a:extLst>
              <a:ext uri="{FF2B5EF4-FFF2-40B4-BE49-F238E27FC236}">
                <a16:creationId xmlns:a16="http://schemas.microsoft.com/office/drawing/2014/main" id="{31D44895-8607-8AAD-5665-E44B349A6141}"/>
              </a:ext>
            </a:extLst>
          </p:cNvPr>
          <p:cNvSpPr txBox="1"/>
          <p:nvPr/>
        </p:nvSpPr>
        <p:spPr>
          <a:xfrm>
            <a:off x="5867400" y="5422900"/>
            <a:ext cx="5715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200" b="1">
                <a:solidFill>
                  <a:srgbClr val="0B4A36"/>
                </a:solidFill>
                <a:latin typeface="Aptos" panose="020B0004020202020204" pitchFamily="34" charset="0"/>
              </a:rPr>
              <a:t>REGISTER  &gt;  REVIEW  &gt;  TRACK SPEND</a:t>
            </a:r>
            <a:endParaRPr lang="en-AE" sz="1200" b="1">
              <a:solidFill>
                <a:srgbClr val="0B4A3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78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pabilities and management benefi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een brand bar">
            <a:extLst>
              <a:ext uri="{FF2B5EF4-FFF2-40B4-BE49-F238E27FC236}">
                <a16:creationId xmlns:a16="http://schemas.microsoft.com/office/drawing/2014/main" id="{6BFA0C86-C41F-4B93-6CDC-0B6745EB744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B4A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Gold brand accent">
            <a:extLst>
              <a:ext uri="{FF2B5EF4-FFF2-40B4-BE49-F238E27FC236}">
                <a16:creationId xmlns:a16="http://schemas.microsoft.com/office/drawing/2014/main" id="{7C0057F0-B0D7-3555-E4B1-810407E6CAD9}"/>
              </a:ext>
            </a:extLst>
          </p:cNvPr>
          <p:cNvSpPr/>
          <p:nvPr/>
        </p:nvSpPr>
        <p:spPr>
          <a:xfrm>
            <a:off x="457200" y="444500"/>
            <a:ext cx="431800" cy="50800"/>
          </a:xfrm>
          <a:prstGeom prst="rect">
            <a:avLst/>
          </a:prstGeom>
          <a:solidFill>
            <a:srgbClr val="BD8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" name="Slide eyebrow">
            <a:extLst>
              <a:ext uri="{FF2B5EF4-FFF2-40B4-BE49-F238E27FC236}">
                <a16:creationId xmlns:a16="http://schemas.microsoft.com/office/drawing/2014/main" id="{5EB814DF-FD5C-E392-6CDD-3567E058B293}"/>
              </a:ext>
            </a:extLst>
          </p:cNvPr>
          <p:cNvSpPr txBox="1"/>
          <p:nvPr/>
        </p:nvSpPr>
        <p:spPr>
          <a:xfrm>
            <a:off x="457200" y="660400"/>
            <a:ext cx="112776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100" b="1">
                <a:solidFill>
                  <a:srgbClr val="BD8B22"/>
                </a:solidFill>
                <a:latin typeface="Aptos" panose="020B0004020202020204" pitchFamily="34" charset="0"/>
              </a:rPr>
              <a:t>KEY FEATURES &amp; BUSINESS BENEFITS</a:t>
            </a:r>
            <a:endParaRPr lang="en-AE" sz="1100" b="1">
              <a:solidFill>
                <a:srgbClr val="BD8B22"/>
              </a:solidFill>
              <a:latin typeface="Aptos" panose="020B0004020202020204" pitchFamily="34" charset="0"/>
            </a:endParaRPr>
          </a:p>
        </p:txBody>
      </p:sp>
      <p:sp>
        <p:nvSpPr>
          <p:cNvPr id="5" name="Slide title">
            <a:extLst>
              <a:ext uri="{FF2B5EF4-FFF2-40B4-BE49-F238E27FC236}">
                <a16:creationId xmlns:a16="http://schemas.microsoft.com/office/drawing/2014/main" id="{CE3983AC-5E87-9D68-6E9E-D7B265B75F3D}"/>
              </a:ext>
            </a:extLst>
          </p:cNvPr>
          <p:cNvSpPr txBox="1"/>
          <p:nvPr/>
        </p:nvSpPr>
        <p:spPr>
          <a:xfrm>
            <a:off x="457200" y="1041400"/>
            <a:ext cx="11277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4A36"/>
                </a:solidFill>
                <a:latin typeface="Aptos" panose="020B0004020202020204" pitchFamily="34" charset="0"/>
              </a:rPr>
              <a:t>Clearer oversight. More disciplined execution.</a:t>
            </a:r>
            <a:endParaRPr lang="en-AE" sz="2800" b="1">
              <a:solidFill>
                <a:srgbClr val="0B4A36"/>
              </a:solidFill>
              <a:latin typeface="Aptos" panose="020B0004020202020204" pitchFamily="34" charset="0"/>
            </a:endParaRPr>
          </a:p>
        </p:txBody>
      </p:sp>
      <p:sp>
        <p:nvSpPr>
          <p:cNvPr id="6" name="Slide subtitle">
            <a:extLst>
              <a:ext uri="{FF2B5EF4-FFF2-40B4-BE49-F238E27FC236}">
                <a16:creationId xmlns:a16="http://schemas.microsoft.com/office/drawing/2014/main" id="{05CFD1BB-8C95-82FB-550A-238DC97D8155}"/>
              </a:ext>
            </a:extLst>
          </p:cNvPr>
          <p:cNvSpPr txBox="1"/>
          <p:nvPr/>
        </p:nvSpPr>
        <p:spPr>
          <a:xfrm>
            <a:off x="457200" y="1651000"/>
            <a:ext cx="11277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596B63"/>
                </a:solidFill>
                <a:latin typeface="Aptos" panose="020B0004020202020204" pitchFamily="34" charset="0"/>
              </a:rPr>
              <a:t>Portal capabilities that support management visibility and control.</a:t>
            </a:r>
            <a:endParaRPr lang="en-AE" sz="1600">
              <a:solidFill>
                <a:srgbClr val="596B63"/>
              </a:solidFill>
              <a:latin typeface="Aptos" panose="020B0004020202020204" pitchFamily="34" charset="0"/>
            </a:endParaRPr>
          </a:p>
        </p:txBody>
      </p:sp>
      <p:sp>
        <p:nvSpPr>
          <p:cNvPr id="7" name="Feature matrix header">
            <a:extLst>
              <a:ext uri="{FF2B5EF4-FFF2-40B4-BE49-F238E27FC236}">
                <a16:creationId xmlns:a16="http://schemas.microsoft.com/office/drawing/2014/main" id="{DB711734-95F5-FB5B-5208-8F67CD11D09C}"/>
              </a:ext>
            </a:extLst>
          </p:cNvPr>
          <p:cNvSpPr/>
          <p:nvPr/>
        </p:nvSpPr>
        <p:spPr>
          <a:xfrm>
            <a:off x="457200" y="2247900"/>
            <a:ext cx="11277600" cy="355600"/>
          </a:xfrm>
          <a:prstGeom prst="rect">
            <a:avLst/>
          </a:prstGeom>
          <a:solidFill>
            <a:srgbClr val="0B4A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" name="Capability column">
            <a:extLst>
              <a:ext uri="{FF2B5EF4-FFF2-40B4-BE49-F238E27FC236}">
                <a16:creationId xmlns:a16="http://schemas.microsoft.com/office/drawing/2014/main" id="{2C5A6676-8A05-B008-80E3-E663A2D2EE69}"/>
              </a:ext>
            </a:extLst>
          </p:cNvPr>
          <p:cNvSpPr txBox="1"/>
          <p:nvPr/>
        </p:nvSpPr>
        <p:spPr>
          <a:xfrm>
            <a:off x="660400" y="2324100"/>
            <a:ext cx="2286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CAPABILITY</a:t>
            </a:r>
            <a:endParaRPr lang="en-AE" sz="10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9" name="Feature column">
            <a:extLst>
              <a:ext uri="{FF2B5EF4-FFF2-40B4-BE49-F238E27FC236}">
                <a16:creationId xmlns:a16="http://schemas.microsoft.com/office/drawing/2014/main" id="{AA73CB70-197E-7811-59D5-7C0FD4E57595}"/>
              </a:ext>
            </a:extLst>
          </p:cNvPr>
          <p:cNvSpPr txBox="1"/>
          <p:nvPr/>
        </p:nvSpPr>
        <p:spPr>
          <a:xfrm>
            <a:off x="3225800" y="2324100"/>
            <a:ext cx="4953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WHAT THE PORTAL ENABLES</a:t>
            </a:r>
            <a:endParaRPr lang="en-AE" sz="10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Benefit column">
            <a:extLst>
              <a:ext uri="{FF2B5EF4-FFF2-40B4-BE49-F238E27FC236}">
                <a16:creationId xmlns:a16="http://schemas.microsoft.com/office/drawing/2014/main" id="{54C40F17-47C7-C46B-0E99-3A97246C8118}"/>
              </a:ext>
            </a:extLst>
          </p:cNvPr>
          <p:cNvSpPr txBox="1"/>
          <p:nvPr/>
        </p:nvSpPr>
        <p:spPr>
          <a:xfrm>
            <a:off x="8559800" y="2324100"/>
            <a:ext cx="29464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BUSINESS BENEFIT</a:t>
            </a:r>
            <a:endParaRPr lang="en-AE" sz="10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Row 0 background">
            <a:extLst>
              <a:ext uri="{FF2B5EF4-FFF2-40B4-BE49-F238E27FC236}">
                <a16:creationId xmlns:a16="http://schemas.microsoft.com/office/drawing/2014/main" id="{FC60C293-4DBE-78E1-8713-7964CF31FBDF}"/>
              </a:ext>
            </a:extLst>
          </p:cNvPr>
          <p:cNvSpPr/>
          <p:nvPr/>
        </p:nvSpPr>
        <p:spPr>
          <a:xfrm>
            <a:off x="457200" y="2603500"/>
            <a:ext cx="11277600" cy="774700"/>
          </a:xfrm>
          <a:prstGeom prst="rect">
            <a:avLst/>
          </a:prstGeom>
          <a:solidFill>
            <a:srgbClr val="F2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2" name="Row 0 capability">
            <a:extLst>
              <a:ext uri="{FF2B5EF4-FFF2-40B4-BE49-F238E27FC236}">
                <a16:creationId xmlns:a16="http://schemas.microsoft.com/office/drawing/2014/main" id="{632212A9-56A1-964C-1D67-FCEF62C3F3EB}"/>
              </a:ext>
            </a:extLst>
          </p:cNvPr>
          <p:cNvSpPr txBox="1"/>
          <p:nvPr/>
        </p:nvSpPr>
        <p:spPr>
          <a:xfrm>
            <a:off x="660400" y="2768600"/>
            <a:ext cx="2311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500" b="1">
                <a:solidFill>
                  <a:srgbClr val="0B4A36"/>
                </a:solidFill>
                <a:latin typeface="Aptos" panose="020B0004020202020204" pitchFamily="34" charset="0"/>
              </a:rPr>
              <a:t>Portfolio visibility</a:t>
            </a:r>
            <a:endParaRPr lang="en-AE" sz="1500" b="1">
              <a:solidFill>
                <a:srgbClr val="0B4A36"/>
              </a:solidFill>
              <a:latin typeface="Aptos" panose="020B0004020202020204" pitchFamily="34" charset="0"/>
            </a:endParaRPr>
          </a:p>
        </p:txBody>
      </p:sp>
      <p:sp>
        <p:nvSpPr>
          <p:cNvPr id="13" name="Row 0 feature">
            <a:extLst>
              <a:ext uri="{FF2B5EF4-FFF2-40B4-BE49-F238E27FC236}">
                <a16:creationId xmlns:a16="http://schemas.microsoft.com/office/drawing/2014/main" id="{4BB06C67-DD55-0F6F-48DF-29DE62965E37}"/>
              </a:ext>
            </a:extLst>
          </p:cNvPr>
          <p:cNvSpPr txBox="1"/>
          <p:nvPr/>
        </p:nvSpPr>
        <p:spPr>
          <a:xfrm>
            <a:off x="3225800" y="2730500"/>
            <a:ext cx="4953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182F28"/>
                </a:solidFill>
                <a:latin typeface="Aptos" panose="020B0004020202020204" pitchFamily="34" charset="0"/>
              </a:rPr>
              <a:t>Searchable project register; ownership, status and pending-action views.</a:t>
            </a:r>
            <a:endParaRPr lang="en-AE" sz="1400">
              <a:solidFill>
                <a:srgbClr val="182F28"/>
              </a:solidFill>
              <a:latin typeface="Aptos" panose="020B0004020202020204" pitchFamily="34" charset="0"/>
            </a:endParaRPr>
          </a:p>
        </p:txBody>
      </p:sp>
      <p:sp>
        <p:nvSpPr>
          <p:cNvPr id="14" name="Row 0 benefit accent">
            <a:extLst>
              <a:ext uri="{FF2B5EF4-FFF2-40B4-BE49-F238E27FC236}">
                <a16:creationId xmlns:a16="http://schemas.microsoft.com/office/drawing/2014/main" id="{2CD38FB6-3894-3F20-EAE4-7F5D1A96AE5A}"/>
              </a:ext>
            </a:extLst>
          </p:cNvPr>
          <p:cNvSpPr/>
          <p:nvPr/>
        </p:nvSpPr>
        <p:spPr>
          <a:xfrm>
            <a:off x="8356600" y="2755900"/>
            <a:ext cx="25400" cy="469900"/>
          </a:xfrm>
          <a:prstGeom prst="rect">
            <a:avLst/>
          </a:prstGeom>
          <a:solidFill>
            <a:srgbClr val="BD8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Row 0 benefit">
            <a:extLst>
              <a:ext uri="{FF2B5EF4-FFF2-40B4-BE49-F238E27FC236}">
                <a16:creationId xmlns:a16="http://schemas.microsoft.com/office/drawing/2014/main" id="{D2AD7A96-DAE9-31E7-FF71-EFD6EEC1CEEF}"/>
              </a:ext>
            </a:extLst>
          </p:cNvPr>
          <p:cNvSpPr txBox="1"/>
          <p:nvPr/>
        </p:nvSpPr>
        <p:spPr>
          <a:xfrm>
            <a:off x="8559800" y="2730500"/>
            <a:ext cx="29464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>
                <a:solidFill>
                  <a:srgbClr val="0B4A36"/>
                </a:solidFill>
                <a:latin typeface="Aptos" panose="020B0004020202020204" pitchFamily="34" charset="0"/>
              </a:rPr>
              <a:t>Clearer accountability and prioritization.</a:t>
            </a:r>
            <a:endParaRPr lang="en-AE" sz="1400">
              <a:solidFill>
                <a:srgbClr val="0B4A36"/>
              </a:solidFill>
              <a:latin typeface="Aptos" panose="020B0004020202020204" pitchFamily="34" charset="0"/>
            </a:endParaRPr>
          </a:p>
        </p:txBody>
      </p:sp>
      <p:sp>
        <p:nvSpPr>
          <p:cNvPr id="16" name="Row 0 divider">
            <a:extLst>
              <a:ext uri="{FF2B5EF4-FFF2-40B4-BE49-F238E27FC236}">
                <a16:creationId xmlns:a16="http://schemas.microsoft.com/office/drawing/2014/main" id="{BFA94346-2C65-C22D-E222-55A154E74E4E}"/>
              </a:ext>
            </a:extLst>
          </p:cNvPr>
          <p:cNvSpPr/>
          <p:nvPr/>
        </p:nvSpPr>
        <p:spPr>
          <a:xfrm>
            <a:off x="457200" y="3365500"/>
            <a:ext cx="112776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7" name="Row 1 capability">
            <a:extLst>
              <a:ext uri="{FF2B5EF4-FFF2-40B4-BE49-F238E27FC236}">
                <a16:creationId xmlns:a16="http://schemas.microsoft.com/office/drawing/2014/main" id="{23A0C719-81D6-D9A2-C496-32C4F5B6076E}"/>
              </a:ext>
            </a:extLst>
          </p:cNvPr>
          <p:cNvSpPr txBox="1"/>
          <p:nvPr/>
        </p:nvSpPr>
        <p:spPr>
          <a:xfrm>
            <a:off x="660400" y="3543300"/>
            <a:ext cx="2311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500" b="1">
                <a:solidFill>
                  <a:srgbClr val="0B4A36"/>
                </a:solidFill>
                <a:latin typeface="Aptos" panose="020B0004020202020204" pitchFamily="34" charset="0"/>
              </a:rPr>
              <a:t>Governed approvals</a:t>
            </a:r>
            <a:endParaRPr lang="en-AE" sz="1500" b="1">
              <a:solidFill>
                <a:srgbClr val="0B4A36"/>
              </a:solidFill>
              <a:latin typeface="Aptos" panose="020B0004020202020204" pitchFamily="34" charset="0"/>
            </a:endParaRPr>
          </a:p>
        </p:txBody>
      </p:sp>
      <p:sp>
        <p:nvSpPr>
          <p:cNvPr id="18" name="Row 1 feature">
            <a:extLst>
              <a:ext uri="{FF2B5EF4-FFF2-40B4-BE49-F238E27FC236}">
                <a16:creationId xmlns:a16="http://schemas.microsoft.com/office/drawing/2014/main" id="{0D03E55A-1AF5-1689-FDEA-F970FE85FDED}"/>
              </a:ext>
            </a:extLst>
          </p:cNvPr>
          <p:cNvSpPr txBox="1"/>
          <p:nvPr/>
        </p:nvSpPr>
        <p:spPr>
          <a:xfrm>
            <a:off x="3225800" y="3505200"/>
            <a:ext cx="4953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182F28"/>
                </a:solidFill>
                <a:latin typeface="Aptos" panose="020B0004020202020204" pitchFamily="34" charset="0"/>
              </a:rPr>
              <a:t>Assigned PET reviews and approvals, send-back, workflow history and alerts.*</a:t>
            </a:r>
            <a:endParaRPr lang="en-AE" sz="1400">
              <a:solidFill>
                <a:srgbClr val="182F28"/>
              </a:solidFill>
              <a:latin typeface="Aptos" panose="020B0004020202020204" pitchFamily="34" charset="0"/>
            </a:endParaRPr>
          </a:p>
        </p:txBody>
      </p:sp>
      <p:sp>
        <p:nvSpPr>
          <p:cNvPr id="19" name="Row 1 benefit accent">
            <a:extLst>
              <a:ext uri="{FF2B5EF4-FFF2-40B4-BE49-F238E27FC236}">
                <a16:creationId xmlns:a16="http://schemas.microsoft.com/office/drawing/2014/main" id="{DA5D9991-7E5A-4079-9208-19530E2758DE}"/>
              </a:ext>
            </a:extLst>
          </p:cNvPr>
          <p:cNvSpPr/>
          <p:nvPr/>
        </p:nvSpPr>
        <p:spPr>
          <a:xfrm>
            <a:off x="8356600" y="3530600"/>
            <a:ext cx="25400" cy="469900"/>
          </a:xfrm>
          <a:prstGeom prst="rect">
            <a:avLst/>
          </a:prstGeom>
          <a:solidFill>
            <a:srgbClr val="BD8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Row 1 benefit">
            <a:extLst>
              <a:ext uri="{FF2B5EF4-FFF2-40B4-BE49-F238E27FC236}">
                <a16:creationId xmlns:a16="http://schemas.microsoft.com/office/drawing/2014/main" id="{53F1E460-F337-2A80-5B38-DB2A48D4690E}"/>
              </a:ext>
            </a:extLst>
          </p:cNvPr>
          <p:cNvSpPr txBox="1"/>
          <p:nvPr/>
        </p:nvSpPr>
        <p:spPr>
          <a:xfrm>
            <a:off x="8559800" y="3505200"/>
            <a:ext cx="29464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0B4A36"/>
                </a:solidFill>
                <a:latin typeface="Aptos" panose="020B0004020202020204" pitchFamily="34" charset="0"/>
              </a:rPr>
              <a:t>Traceable decisions and focused follow-up.</a:t>
            </a:r>
            <a:endParaRPr lang="en-AE" sz="1400">
              <a:solidFill>
                <a:srgbClr val="0B4A36"/>
              </a:solidFill>
              <a:latin typeface="Aptos" panose="020B0004020202020204" pitchFamily="34" charset="0"/>
            </a:endParaRPr>
          </a:p>
        </p:txBody>
      </p:sp>
      <p:sp>
        <p:nvSpPr>
          <p:cNvPr id="21" name="Row 1 divider">
            <a:extLst>
              <a:ext uri="{FF2B5EF4-FFF2-40B4-BE49-F238E27FC236}">
                <a16:creationId xmlns:a16="http://schemas.microsoft.com/office/drawing/2014/main" id="{762B6E16-8C05-B271-9D84-180B8DCA4DE8}"/>
              </a:ext>
            </a:extLst>
          </p:cNvPr>
          <p:cNvSpPr/>
          <p:nvPr/>
        </p:nvSpPr>
        <p:spPr>
          <a:xfrm>
            <a:off x="457200" y="4140200"/>
            <a:ext cx="112776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2" name="Row 2 background">
            <a:extLst>
              <a:ext uri="{FF2B5EF4-FFF2-40B4-BE49-F238E27FC236}">
                <a16:creationId xmlns:a16="http://schemas.microsoft.com/office/drawing/2014/main" id="{E9FD711A-9414-A4A9-82B2-DABFE2521D9C}"/>
              </a:ext>
            </a:extLst>
          </p:cNvPr>
          <p:cNvSpPr/>
          <p:nvPr/>
        </p:nvSpPr>
        <p:spPr>
          <a:xfrm>
            <a:off x="457200" y="4152900"/>
            <a:ext cx="11277600" cy="774700"/>
          </a:xfrm>
          <a:prstGeom prst="rect">
            <a:avLst/>
          </a:prstGeom>
          <a:solidFill>
            <a:srgbClr val="F2F5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3" name="Row 2 capability">
            <a:extLst>
              <a:ext uri="{FF2B5EF4-FFF2-40B4-BE49-F238E27FC236}">
                <a16:creationId xmlns:a16="http://schemas.microsoft.com/office/drawing/2014/main" id="{0A0DDA7B-DA8D-8852-DA6A-10E1CEB9DABA}"/>
              </a:ext>
            </a:extLst>
          </p:cNvPr>
          <p:cNvSpPr txBox="1"/>
          <p:nvPr/>
        </p:nvSpPr>
        <p:spPr>
          <a:xfrm>
            <a:off x="660400" y="4318000"/>
            <a:ext cx="2311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500" b="1">
                <a:solidFill>
                  <a:srgbClr val="0B4A36"/>
                </a:solidFill>
                <a:latin typeface="Aptos" panose="020B0004020202020204" pitchFamily="34" charset="0"/>
              </a:rPr>
              <a:t>Financial control</a:t>
            </a:r>
            <a:endParaRPr lang="en-AE" sz="1500" b="1">
              <a:solidFill>
                <a:srgbClr val="0B4A36"/>
              </a:solidFill>
              <a:latin typeface="Aptos" panose="020B0004020202020204" pitchFamily="34" charset="0"/>
            </a:endParaRPr>
          </a:p>
        </p:txBody>
      </p:sp>
      <p:sp>
        <p:nvSpPr>
          <p:cNvPr id="24" name="Row 2 feature">
            <a:extLst>
              <a:ext uri="{FF2B5EF4-FFF2-40B4-BE49-F238E27FC236}">
                <a16:creationId xmlns:a16="http://schemas.microsoft.com/office/drawing/2014/main" id="{686BD369-F06E-3365-07FA-6E218D710FA4}"/>
              </a:ext>
            </a:extLst>
          </p:cNvPr>
          <p:cNvSpPr txBox="1"/>
          <p:nvPr/>
        </p:nvSpPr>
        <p:spPr>
          <a:xfrm>
            <a:off x="3225800" y="4279900"/>
            <a:ext cx="4953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182F28"/>
                </a:solidFill>
                <a:latin typeface="Aptos" panose="020B0004020202020204" pitchFamily="34" charset="0"/>
              </a:rPr>
              <a:t>CAPEX / OPEX balances and utilization; approved-PET budget lines, CAM / LPO and invoices.</a:t>
            </a:r>
            <a:endParaRPr lang="en-AE" sz="1400">
              <a:solidFill>
                <a:srgbClr val="182F28"/>
              </a:solidFill>
              <a:latin typeface="Aptos" panose="020B0004020202020204" pitchFamily="34" charset="0"/>
            </a:endParaRPr>
          </a:p>
        </p:txBody>
      </p:sp>
      <p:sp>
        <p:nvSpPr>
          <p:cNvPr id="25" name="Row 2 benefit accent">
            <a:extLst>
              <a:ext uri="{FF2B5EF4-FFF2-40B4-BE49-F238E27FC236}">
                <a16:creationId xmlns:a16="http://schemas.microsoft.com/office/drawing/2014/main" id="{6E573A03-C651-7366-98F1-6704F2FAA332}"/>
              </a:ext>
            </a:extLst>
          </p:cNvPr>
          <p:cNvSpPr/>
          <p:nvPr/>
        </p:nvSpPr>
        <p:spPr>
          <a:xfrm>
            <a:off x="8356600" y="4305300"/>
            <a:ext cx="25400" cy="469900"/>
          </a:xfrm>
          <a:prstGeom prst="rect">
            <a:avLst/>
          </a:prstGeom>
          <a:solidFill>
            <a:srgbClr val="BD8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6" name="Row 2 benefit">
            <a:extLst>
              <a:ext uri="{FF2B5EF4-FFF2-40B4-BE49-F238E27FC236}">
                <a16:creationId xmlns:a16="http://schemas.microsoft.com/office/drawing/2014/main" id="{EDF11C26-8315-B844-E3BE-3EE8F8A00189}"/>
              </a:ext>
            </a:extLst>
          </p:cNvPr>
          <p:cNvSpPr txBox="1"/>
          <p:nvPr/>
        </p:nvSpPr>
        <p:spPr>
          <a:xfrm>
            <a:off x="8559800" y="4279900"/>
            <a:ext cx="29464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0B4A36"/>
                </a:solidFill>
                <a:latin typeface="Aptos" panose="020B0004020202020204" pitchFamily="34" charset="0"/>
              </a:rPr>
              <a:t>Connected visibility from approved demand to recorded spend.</a:t>
            </a:r>
            <a:endParaRPr lang="en-AE" sz="1400">
              <a:solidFill>
                <a:srgbClr val="0B4A36"/>
              </a:solidFill>
              <a:latin typeface="Aptos" panose="020B0004020202020204" pitchFamily="34" charset="0"/>
            </a:endParaRPr>
          </a:p>
        </p:txBody>
      </p:sp>
      <p:sp>
        <p:nvSpPr>
          <p:cNvPr id="27" name="Row 2 divider">
            <a:extLst>
              <a:ext uri="{FF2B5EF4-FFF2-40B4-BE49-F238E27FC236}">
                <a16:creationId xmlns:a16="http://schemas.microsoft.com/office/drawing/2014/main" id="{1560A4F3-530C-1256-51BA-45055B3BF5B4}"/>
              </a:ext>
            </a:extLst>
          </p:cNvPr>
          <p:cNvSpPr/>
          <p:nvPr/>
        </p:nvSpPr>
        <p:spPr>
          <a:xfrm>
            <a:off x="457200" y="4914900"/>
            <a:ext cx="112776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8" name="Row 3 capability">
            <a:extLst>
              <a:ext uri="{FF2B5EF4-FFF2-40B4-BE49-F238E27FC236}">
                <a16:creationId xmlns:a16="http://schemas.microsoft.com/office/drawing/2014/main" id="{713136F4-3740-4890-AC11-F0BBDAC37612}"/>
              </a:ext>
            </a:extLst>
          </p:cNvPr>
          <p:cNvSpPr txBox="1"/>
          <p:nvPr/>
        </p:nvSpPr>
        <p:spPr>
          <a:xfrm>
            <a:off x="660400" y="5092700"/>
            <a:ext cx="23114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500" b="1">
                <a:solidFill>
                  <a:srgbClr val="0B4A36"/>
                </a:solidFill>
                <a:latin typeface="Aptos" panose="020B0004020202020204" pitchFamily="34" charset="0"/>
              </a:rPr>
              <a:t>Efficient processing</a:t>
            </a:r>
            <a:endParaRPr lang="en-AE" sz="1500" b="1">
              <a:solidFill>
                <a:srgbClr val="0B4A36"/>
              </a:solidFill>
              <a:latin typeface="Aptos" panose="020B0004020202020204" pitchFamily="34" charset="0"/>
            </a:endParaRPr>
          </a:p>
        </p:txBody>
      </p:sp>
      <p:sp>
        <p:nvSpPr>
          <p:cNvPr id="29" name="Row 3 feature">
            <a:extLst>
              <a:ext uri="{FF2B5EF4-FFF2-40B4-BE49-F238E27FC236}">
                <a16:creationId xmlns:a16="http://schemas.microsoft.com/office/drawing/2014/main" id="{DA9FD1AA-D82A-1DEC-D912-6420B8D88277}"/>
              </a:ext>
            </a:extLst>
          </p:cNvPr>
          <p:cNvSpPr txBox="1"/>
          <p:nvPr/>
        </p:nvSpPr>
        <p:spPr>
          <a:xfrm>
            <a:off x="3225800" y="5054600"/>
            <a:ext cx="4953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182F28"/>
                </a:solidFill>
                <a:latin typeface="Aptos" panose="020B0004020202020204" pitchFamily="34" charset="0"/>
              </a:rPr>
              <a:t>CSV / Excel imports with editable PET previews; linked supporting documents.</a:t>
            </a:r>
            <a:endParaRPr lang="en-AE" sz="1400">
              <a:solidFill>
                <a:srgbClr val="182F28"/>
              </a:solidFill>
              <a:latin typeface="Aptos" panose="020B0004020202020204" pitchFamily="34" charset="0"/>
            </a:endParaRPr>
          </a:p>
        </p:txBody>
      </p:sp>
      <p:sp>
        <p:nvSpPr>
          <p:cNvPr id="30" name="Row 3 benefit accent">
            <a:extLst>
              <a:ext uri="{FF2B5EF4-FFF2-40B4-BE49-F238E27FC236}">
                <a16:creationId xmlns:a16="http://schemas.microsoft.com/office/drawing/2014/main" id="{0EC33A84-2B9E-2E28-8A6C-8CA94F4BA09C}"/>
              </a:ext>
            </a:extLst>
          </p:cNvPr>
          <p:cNvSpPr/>
          <p:nvPr/>
        </p:nvSpPr>
        <p:spPr>
          <a:xfrm>
            <a:off x="8356600" y="5080000"/>
            <a:ext cx="25400" cy="469900"/>
          </a:xfrm>
          <a:prstGeom prst="rect">
            <a:avLst/>
          </a:prstGeom>
          <a:solidFill>
            <a:srgbClr val="BD8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1" name="Row 3 benefit">
            <a:extLst>
              <a:ext uri="{FF2B5EF4-FFF2-40B4-BE49-F238E27FC236}">
                <a16:creationId xmlns:a16="http://schemas.microsoft.com/office/drawing/2014/main" id="{342FAE8A-01C8-AAE0-1DC9-B0EE9A655978}"/>
              </a:ext>
            </a:extLst>
          </p:cNvPr>
          <p:cNvSpPr txBox="1"/>
          <p:nvPr/>
        </p:nvSpPr>
        <p:spPr>
          <a:xfrm>
            <a:off x="8559800" y="5054600"/>
            <a:ext cx="29464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0B4A36"/>
                </a:solidFill>
                <a:latin typeface="Aptos" panose="020B0004020202020204" pitchFamily="34" charset="0"/>
              </a:rPr>
              <a:t>Less manual re-entry and easier document retrieval.</a:t>
            </a:r>
            <a:endParaRPr lang="en-AE" sz="1400">
              <a:solidFill>
                <a:srgbClr val="0B4A36"/>
              </a:solidFill>
              <a:latin typeface="Aptos" panose="020B0004020202020204" pitchFamily="34" charset="0"/>
            </a:endParaRPr>
          </a:p>
        </p:txBody>
      </p:sp>
      <p:sp>
        <p:nvSpPr>
          <p:cNvPr id="32" name="Row 3 divider">
            <a:extLst>
              <a:ext uri="{FF2B5EF4-FFF2-40B4-BE49-F238E27FC236}">
                <a16:creationId xmlns:a16="http://schemas.microsoft.com/office/drawing/2014/main" id="{B4D3DA70-9E00-5CD4-8DA6-4470908104D7}"/>
              </a:ext>
            </a:extLst>
          </p:cNvPr>
          <p:cNvSpPr/>
          <p:nvPr/>
        </p:nvSpPr>
        <p:spPr>
          <a:xfrm>
            <a:off x="457200" y="5689600"/>
            <a:ext cx="112776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3" name="Control foundation">
            <a:extLst>
              <a:ext uri="{FF2B5EF4-FFF2-40B4-BE49-F238E27FC236}">
                <a16:creationId xmlns:a16="http://schemas.microsoft.com/office/drawing/2014/main" id="{4FA8975A-4E42-4E1B-1133-A0B23C9F5E8E}"/>
              </a:ext>
            </a:extLst>
          </p:cNvPr>
          <p:cNvSpPr txBox="1"/>
          <p:nvPr/>
        </p:nvSpPr>
        <p:spPr>
          <a:xfrm>
            <a:off x="457200" y="5867400"/>
            <a:ext cx="112776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B4A36"/>
                </a:solidFill>
                <a:latin typeface="Aptos" panose="020B0004020202020204" pitchFamily="34" charset="0"/>
              </a:rPr>
              <a:t>CONTROL FOUNDATION   Windows sign-in via approved DFM Helper devices; role-based access.</a:t>
            </a:r>
            <a:endParaRPr lang="en-AE" sz="1100" b="1">
              <a:solidFill>
                <a:srgbClr val="0B4A36"/>
              </a:solidFill>
              <a:latin typeface="Aptos" panose="020B0004020202020204" pitchFamily="34" charset="0"/>
            </a:endParaRPr>
          </a:p>
        </p:txBody>
      </p:sp>
      <p:sp>
        <p:nvSpPr>
          <p:cNvPr id="34" name="Notification qualification">
            <a:extLst>
              <a:ext uri="{FF2B5EF4-FFF2-40B4-BE49-F238E27FC236}">
                <a16:creationId xmlns:a16="http://schemas.microsoft.com/office/drawing/2014/main" id="{0B61777D-3464-CF19-AD93-D34AE96B6604}"/>
              </a:ext>
            </a:extLst>
          </p:cNvPr>
          <p:cNvSpPr txBox="1"/>
          <p:nvPr/>
        </p:nvSpPr>
        <p:spPr>
          <a:xfrm>
            <a:off x="457200" y="6172200"/>
            <a:ext cx="112776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596B63"/>
                </a:solidFill>
                <a:latin typeface="Aptos" panose="020B0004020202020204" pitchFamily="34" charset="0"/>
              </a:rPr>
              <a:t>*Workflow desktop notifications require DFM Helper running and updated server/helper components.</a:t>
            </a:r>
            <a:endParaRPr lang="en-AE" sz="900">
              <a:solidFill>
                <a:srgbClr val="596B63"/>
              </a:solidFill>
              <a:latin typeface="Aptos" panose="020B0004020202020204" pitchFamily="34" charset="0"/>
            </a:endParaRPr>
          </a:p>
        </p:txBody>
      </p:sp>
      <p:sp>
        <p:nvSpPr>
          <p:cNvPr id="35" name="Footer divider">
            <a:extLst>
              <a:ext uri="{FF2B5EF4-FFF2-40B4-BE49-F238E27FC236}">
                <a16:creationId xmlns:a16="http://schemas.microsoft.com/office/drawing/2014/main" id="{720A11BC-848B-4263-3417-D15860B72276}"/>
              </a:ext>
            </a:extLst>
          </p:cNvPr>
          <p:cNvSpPr/>
          <p:nvPr/>
        </p:nvSpPr>
        <p:spPr>
          <a:xfrm>
            <a:off x="457200" y="6438900"/>
            <a:ext cx="11277600" cy="12700"/>
          </a:xfrm>
          <a:prstGeom prst="rect">
            <a:avLst/>
          </a:prstGeom>
          <a:solidFill>
            <a:srgbClr val="DCE4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6" name="Footer">
            <a:extLst>
              <a:ext uri="{FF2B5EF4-FFF2-40B4-BE49-F238E27FC236}">
                <a16:creationId xmlns:a16="http://schemas.microsoft.com/office/drawing/2014/main" id="{F5D365C8-BB75-9F86-B1A5-3907419D5049}"/>
              </a:ext>
            </a:extLst>
          </p:cNvPr>
          <p:cNvSpPr txBox="1"/>
          <p:nvPr/>
        </p:nvSpPr>
        <p:spPr>
          <a:xfrm>
            <a:off x="457200" y="6553200"/>
            <a:ext cx="5842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900">
                <a:solidFill>
                  <a:srgbClr val="596B63"/>
                </a:solidFill>
                <a:latin typeface="Aptos" panose="020B0004020202020204" pitchFamily="34" charset="0"/>
              </a:rPr>
              <a:t>DIB MANAGEMENT  |  FALCON PORTFOLIO PORTAL</a:t>
            </a:r>
            <a:endParaRPr lang="en-AE" sz="900">
              <a:solidFill>
                <a:srgbClr val="596B63"/>
              </a:solidFill>
              <a:latin typeface="Aptos" panose="020B0004020202020204" pitchFamily="34" charset="0"/>
            </a:endParaRPr>
          </a:p>
        </p:txBody>
      </p:sp>
      <p:sp>
        <p:nvSpPr>
          <p:cNvPr id="37" name="Slide number">
            <a:extLst>
              <a:ext uri="{FF2B5EF4-FFF2-40B4-BE49-F238E27FC236}">
                <a16:creationId xmlns:a16="http://schemas.microsoft.com/office/drawing/2014/main" id="{07290B46-94F4-6FBF-1DFA-B7F396F3B849}"/>
              </a:ext>
            </a:extLst>
          </p:cNvPr>
          <p:cNvSpPr txBox="1"/>
          <p:nvPr/>
        </p:nvSpPr>
        <p:spPr>
          <a:xfrm>
            <a:off x="11226800" y="6540500"/>
            <a:ext cx="508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AE" sz="1000" b="1">
                <a:solidFill>
                  <a:srgbClr val="0B4A36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57827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218</Words>
  <Application>Microsoft Office PowerPoint</Application>
  <PresentationFormat>Widescreen</PresentationFormat>
  <Paragraphs>36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hariprasath patchappalam</dc:creator>
  <cp:lastModifiedBy>hariprasath patchappalam</cp:lastModifiedBy>
  <cp:revision>2</cp:revision>
  <dcterms:created xsi:type="dcterms:W3CDTF">2026-10-22T08:45:40Z</dcterms:created>
  <dcterms:modified xsi:type="dcterms:W3CDTF">2026-10-22T08:58:00Z</dcterms:modified>
</cp:coreProperties>
</file>